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Retenção D30 (%)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Não abriu newsletter</c:v>
                  </c:pt>
                  <c:pt idx="1">
                    <c:v>Abriu newsletter antes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30.54</c:v>
                </c:pt>
                <c:pt idx="1">
                  <c:v>37.83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Retorno D1 (%)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Palavras Fáceis
(vitória ≥ 60%)</c:v>
                  </c:pt>
                  <c:pt idx="1">
                    <c:v>Palavras Difíceis
(vitória &lt; 50%)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21.92</c:v>
                </c:pt>
                <c:pt idx="1">
                  <c:v>23.04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  <c:min val="19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capa: apresentar o produto Palavritas e contextualizar o escopo da análise. Mencionar que os dados foram limpos e validados estatisticamente antes de qualquer conclusão.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 de navegação. Esta apresentação tem 4 atos: qualidade dos dados → achados → rigor estatístico → ação. Cada seção tem critério claro de sucesso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Transparência metodológica. Mostrar que o dataset passou por auditoria criteriosa antes de qualquer análise. Destacar que a sessão de 41k foi limpa para 39,9k sem perda de variáveis relevantes.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Ponto-chave: não é só o jogo que retém — é o contexto em que o usuário joga. Abrir a newsletter como gatilho cognitivo aumenta a retenção quase tanto quanto mudar o horário.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Destaque: Z-score = 16,40 com p praticamente zero. É o achado mais robusto de toda a análise. A implicação estratégica é clara: não queremos mais sessões; queremos sessões matinais.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contraintuitivo que pode gerar debate. Antecipar: 'mas usuários não ficam frustrados?' — os dados dizem não, e o Z-test confirma com 95% de confiança.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crítica para credibilidade. Mostrar que não chegamos a conclusões sem teste de hipótese. O Z de 16,40 para o hábito matinal é excepcional em dados de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proposta tem hipótese → ação → critério de sucesso. Proposta 1 é o quick win com maior impacto esperado baseado nos dados. Proposta 3 é de menor esforço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fechamento. Mensagem-chave: temos três alavancas comprovadas. O próximo passo é escolher qual das três implementar primeiro — sugestão: Proposta 1 (CTA newsletter) por ter o maior impacto esperado e menor custo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94360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EA5E9">
              <a:alpha val="75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PRODUTO &amp; GROWTH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Palavritas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Engajamento &amp; Retenção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4572000" cy="36576"/>
          </a:xfrm>
          <a:prstGeom prst="rect">
            <a:avLst/>
          </a:prstGeom>
          <a:solidFill>
            <a:srgbClr val="0EA5E9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834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Dados — Produto &amp; Growth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de Junho de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7490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794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+8,23 pp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42793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 Matinal → D30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37490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3794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+7,29 pp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46120" y="42793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→ D30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37490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794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+1,12 pp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989320" y="42793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→ D1 Retorno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" cy="804672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de Dados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43560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Limpeza, inconsistências detectadas e decisões tomadas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984248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84248"/>
            <a:ext cx="822960" cy="804672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84248"/>
            <a:ext cx="82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Drivers de Retenção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36829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Newsletter, horário matinal e dificuldade — impactos no D30 e D1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16936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16936"/>
            <a:ext cx="822960" cy="804672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16936"/>
            <a:ext cx="82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2990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Estatística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30098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Z que confirmam: esses resultados não são ruído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849624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849624"/>
            <a:ext cx="822960" cy="804672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49624"/>
            <a:ext cx="82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17320" y="39227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Propostas de Produto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23367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ações para a próxima semana com critérios de sucesso claros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de Dados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6583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encontramos antes de rodar qualquer análise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353312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F97316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353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97316"/>
                </a:solidFill>
              </a:rPr>
              <a:t>DUPLICATAS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67512" y="1691640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1.198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67512" y="2148840"/>
            <a:ext cx="3694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session_ids duplicados eliminados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41.157 → 39.959 sessões únicas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65192" y="1353312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1353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0B981"/>
                </a:solidFill>
              </a:rPr>
              <a:t>ENCODING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65192" y="1691640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965192" y="2148840"/>
            <a:ext cx="3694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de cidade e setor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apresentavam chars corrompidos no terminal — dados íntegros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" y="3136392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0EA5E9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1363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EA5E9"/>
                </a:solidFill>
              </a:rPr>
              <a:t>DISPOSITIVOS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7512" y="3474720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67512" y="3931920"/>
            <a:ext cx="3694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Variações de casing (ios/iOS/IOS)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padronizadas para iOS e Android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65192" y="3136392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F97316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31363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97316"/>
                </a:solidFill>
              </a:rPr>
              <a:t>PERFIL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65192" y="3474720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800/1.200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965192" y="3931920"/>
            <a:ext cx="3694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com pesquisa respondida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sem perfil → NULL preservado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Newsletter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 newsletter antes de jogar aumenta a retenção de longo prazo em 7,29 pp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5303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234440"/>
            <a:ext cx="2880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7220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+7,29 pp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172200" y="16733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absoluto na retenção D30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989320" y="2267712"/>
            <a:ext cx="2880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72200" y="23134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+1,76 pp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172200" y="27066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D1 em assinantes ativos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89320" y="3300984"/>
            <a:ext cx="2880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72200" y="33467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0.0001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172200" y="37398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= 12,32 — altamente significante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448056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449884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Insight: O leitor que abre o e-mail e joga no mesmo turno está criando um ritual duplo — leitura + jogo. Esse par de comportamentos é muito mais difícil de abandonar do que o jogo isolado.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Hábito Matinal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variável comportamental de retenção — jogar de manhã vale +8,23 pp no D30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01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 – 17h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88720" y="2176272"/>
            <a:ext cx="128016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29,35%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944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D30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23444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1801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18h – 23h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2176272"/>
            <a:ext cx="128016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29,35%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383280" y="2944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D30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123444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0C2D4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Manhã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9360" y="1801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06h – 11h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2176272"/>
            <a:ext cx="128016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37,58%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309360" y="2944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D30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333756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3337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+8,23 pp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206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O usuário matinal ancora o jogo à sua rotina de notícias. Esse comportamento é parte de um ritual, não de um impulso — e rituais têm churn muito mais baixo.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 Desafio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 difíceis aumentam — não reduzem — o retorno no dia seguinte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23444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3258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97316"/>
                </a:solidFill>
              </a:rPr>
              <a:t>DIFÍCIL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852160" y="15270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CIÚME / HERÓI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852160" y="18379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Vitória: ~45%  ·  Média: ~4,2 tent.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0" y="2350008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52160" y="24414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4A3B8"/>
                </a:solidFill>
              </a:rPr>
              <a:t>FÁCIL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852160" y="26426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CORVO / GENRO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852160" y="29535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Vitória: ~66%  ·  Média: ~3,3 tent.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669280" y="3456432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0" y="35021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+1,12 pp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852160" y="38953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D1 (p = 0,032 — sig.)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443484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46227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Facilitar demais o jogo reduz a taxa de retorno. O desafio desperta o 'quero provar que consigo amanhã'.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50876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Estatística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6675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resultados não são ruído — comprovados por Teste Z de proporções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41248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88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antes → Retenção D30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75120" y="118872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10B981">
              <a:alpha val="7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188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Altamente significante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6002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12,32   ·   p ≈ 0,0000   ·   Impacto: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+7,29 pp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41248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 Matinal → Retenção D30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24231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EA5E9">
              <a:alpha val="7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423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Altamente significante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28346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16,40   ·   p ≈ 0,0000   ·   Impacto: 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+8,23 pp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41248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6576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 Difícil → Retorno D1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5120" y="365760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F97316">
              <a:alpha val="7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657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Significante (95% conf.)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4069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2,15   ·   p = 0,032   ·   Impacto: 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4069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+1,12 pp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Propostas de Produto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ações testáveis na próxima semana, com critérios de sucesso mensuráveis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85800" cy="1078992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685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28016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Ancoragem da Newsletter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59105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CTA destacado na newsletter matinal + token de rastreio de origem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25880" y="188366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KPI: +15% sessões com newsletter_open_before = True na semana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23160"/>
            <a:ext cx="685800" cy="1078992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23160"/>
            <a:ext cx="685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51460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Notificação Reativa (Streak)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282549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Push/e-mail às 08h para quem jogou ontem mas ainda não jogou hoje, com sequência atual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31181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KPI: Taxa de retorno diário: 22,15% → 25% nos usuários impactados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57600"/>
            <a:ext cx="685800" cy="1078992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57600"/>
            <a:ext cx="685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74904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Balanceamento Dinâmico de Dificuldade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405993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Cronograma de palavras: sem 2 dias seguidos fáceis; pelo menos 2 palavras-desafio/semana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25880" y="435254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KPI: Média de tentativas &gt; 3,7/jogo e +1 pp de retorno nas semanas de teste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para Decisão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nos dizem e o que fazer esta semana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5240">
            <a:solidFill>
              <a:srgbClr val="0EA5E9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63040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70432" y="135331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 matinal é o maior preditor de retenção D30 (+8,23 pp). Precisamos ancorar o acesso às 06h–11h.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5240">
            <a:solidFill>
              <a:srgbClr val="10B981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37744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70432" y="226771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newsletter é a ponte. Abri-la antes de jogar vale +7,29 pp de retenção. Usar o e-mail como trigger é a ação de menor custo e maior retorno.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5240">
            <a:solidFill>
              <a:srgbClr val="F97316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291840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70432" y="318211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simplifique as palavras. Desafio gera 'quero voltar amanhã'. Controle dinâmico de dificuldade é uma alavanca de engajamento.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005072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5240">
            <a:solidFill>
              <a:srgbClr val="94A3B8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4206240"/>
            <a:ext cx="384048" cy="38404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70432" y="409651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achados têm validação estatística (Teste Z). Não são coincidências — são padrões de comportamento acionáveis.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Palavritas — Análise de Engajamento &amp; Retenção</dc:title>
  <dc:subject>Case the news</dc:subject>
  <dc:creator>Analista de Dados — Produto &amp; Growth</dc:creator>
  <cp:lastModifiedBy>Analista de Dados — Produto &amp; Growth</cp:lastModifiedBy>
  <cp:revision>1</cp:revision>
  <dcterms:created xsi:type="dcterms:W3CDTF">2026-06-28T23:18:41Z</dcterms:created>
  <dcterms:modified xsi:type="dcterms:W3CDTF">2026-06-28T23:18:41Z</dcterms:modified>
</cp:coreProperties>
</file>